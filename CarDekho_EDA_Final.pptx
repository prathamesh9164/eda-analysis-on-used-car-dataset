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8" r:id="rId4"/>
    <p:sldId id="260" r:id="rId5"/>
    <p:sldId id="261" r:id="rId6"/>
    <p:sldId id="278" r:id="rId7"/>
    <p:sldId id="264" r:id="rId8"/>
    <p:sldId id="279" r:id="rId9"/>
    <p:sldId id="265" r:id="rId10"/>
    <p:sldId id="266" r:id="rId11"/>
    <p:sldId id="276" r:id="rId12"/>
    <p:sldId id="267" r:id="rId13"/>
    <p:sldId id="269" r:id="rId14"/>
    <p:sldId id="270" r:id="rId15"/>
    <p:sldId id="271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F3C"/>
                </a:solidFill>
                <a:latin typeface="Arial"/>
              </a:rPr>
              <a:t>Price Distribution (Lakh 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0-5L</c:v>
                </c:pt>
                <c:pt idx="1">
                  <c:v>5-10L</c:v>
                </c:pt>
                <c:pt idx="2">
                  <c:v>10-15L</c:v>
                </c:pt>
                <c:pt idx="3">
                  <c:v>15-20L</c:v>
                </c:pt>
                <c:pt idx="4">
                  <c:v>20-30L</c:v>
                </c:pt>
                <c:pt idx="5">
                  <c:v>30-50L</c:v>
                </c:pt>
                <c:pt idx="6">
                  <c:v>50L+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850</c:v>
                </c:pt>
                <c:pt idx="1">
                  <c:v>2400</c:v>
                </c:pt>
                <c:pt idx="2">
                  <c:v>1900</c:v>
                </c:pt>
                <c:pt idx="3">
                  <c:v>1200</c:v>
                </c:pt>
                <c:pt idx="4">
                  <c:v>820</c:v>
                </c:pt>
                <c:pt idx="5">
                  <c:v>450</c:v>
                </c:pt>
                <c:pt idx="6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4-43EB-9D7F-869989DE4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F3C"/>
                </a:solidFill>
                <a:latin typeface="Arial"/>
              </a:rPr>
              <a:t>Fuel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6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FE-47AE-BDA1-D6C5933A7A16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FE-47AE-BDA1-D6C5933A7A16}"/>
              </c:ext>
            </c:extLst>
          </c:dPt>
          <c:dPt>
            <c:idx val="2"/>
            <c:bubble3D val="0"/>
            <c:spPr>
              <a:solidFill>
                <a:srgbClr val="7B68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FE-47AE-BDA1-D6C5933A7A16}"/>
              </c:ext>
            </c:extLst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FE-47AE-BDA1-D6C5933A7A16}"/>
              </c:ext>
            </c:extLst>
          </c:dPt>
          <c:dPt>
            <c:idx val="4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FE-47AE-BDA1-D6C5933A7A1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FE-47AE-BDA1-D6C5933A7A1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E-47AE-BDA1-D6C5933A7A1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E-47AE-BDA1-D6C5933A7A16}"/>
                </c:ext>
              </c:extLst>
            </c:dLbl>
            <c:dLbl>
              <c:idx val="3"/>
              <c:layout>
                <c:manualLayout>
                  <c:x val="6.6260207057451156E-2"/>
                  <c:y val="8.9115094165860848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E-47AE-BDA1-D6C5933A7A16}"/>
                </c:ext>
              </c:extLst>
            </c:dLbl>
            <c:dLbl>
              <c:idx val="4"/>
              <c:layout>
                <c:manualLayout>
                  <c:x val="-2.8617551278312434E-2"/>
                  <c:y val="1.2525709505610045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E-47AE-BDA1-D6C5933A7A1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Diesel</c:v>
                </c:pt>
                <c:pt idx="1">
                  <c:v>Petrol</c:v>
                </c:pt>
                <c:pt idx="2">
                  <c:v>CNG</c:v>
                </c:pt>
                <c:pt idx="3">
                  <c:v>Electric</c:v>
                </c:pt>
                <c:pt idx="4">
                  <c:v>LPG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3850</c:v>
                </c:pt>
                <c:pt idx="1">
                  <c:v>3600</c:v>
                </c:pt>
                <c:pt idx="2">
                  <c:v>240</c:v>
                </c:pt>
                <c:pt idx="3">
                  <c:v>180</c:v>
                </c:pt>
                <c:pt idx="4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FE-47AE-BDA1-D6C5933A7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Avg Price by Fuel Type (₹ Lakh)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(₹L)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Electric</c:v>
                </c:pt>
                <c:pt idx="1">
                  <c:v>Diesel</c:v>
                </c:pt>
                <c:pt idx="2">
                  <c:v>Petrol</c:v>
                </c:pt>
                <c:pt idx="3">
                  <c:v>LPG</c:v>
                </c:pt>
                <c:pt idx="4">
                  <c:v>CNG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28.5</c:v>
                </c:pt>
                <c:pt idx="1">
                  <c:v>14.2</c:v>
                </c:pt>
                <c:pt idx="2">
                  <c:v>11.8</c:v>
                </c:pt>
                <c:pt idx="3">
                  <c:v>9.4</c:v>
                </c:pt>
                <c:pt idx="4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10-448B-A909-11561E71E8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Price vs Vehicle Age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(₹L)</c:v>
                </c:pt>
              </c:strCache>
            </c:strRef>
          </c:tx>
          <c:spPr>
            <a:ln w="38100" cap="flat">
              <a:solidFill>
                <a:srgbClr val="FFD1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1yr</c:v>
                </c:pt>
                <c:pt idx="1">
                  <c:v>2yr</c:v>
                </c:pt>
                <c:pt idx="2">
                  <c:v>3yr</c:v>
                </c:pt>
                <c:pt idx="3">
                  <c:v>4yr</c:v>
                </c:pt>
                <c:pt idx="4">
                  <c:v>5yr</c:v>
                </c:pt>
                <c:pt idx="5">
                  <c:v>7yr</c:v>
                </c:pt>
                <c:pt idx="6">
                  <c:v>10yr</c:v>
                </c:pt>
                <c:pt idx="7">
                  <c:v>15yr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24.2</c:v>
                </c:pt>
                <c:pt idx="1">
                  <c:v>20.8</c:v>
                </c:pt>
                <c:pt idx="2">
                  <c:v>17.5</c:v>
                </c:pt>
                <c:pt idx="3">
                  <c:v>15.2</c:v>
                </c:pt>
                <c:pt idx="4">
                  <c:v>13.8</c:v>
                </c:pt>
                <c:pt idx="5">
                  <c:v>11.2</c:v>
                </c:pt>
                <c:pt idx="6">
                  <c:v>8.5</c:v>
                </c:pt>
                <c:pt idx="7">
                  <c:v>5.4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94C-4D0F-8ECE-0EB6D6927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F3C"/>
                </a:solidFill>
                <a:latin typeface="Arial"/>
              </a:rPr>
              <a:t>Pearson Correlation with Selling Price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Price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2E-481A-9163-668754E959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B2E-481A-9163-668754E95941}"/>
              </c:ext>
            </c:extLst>
          </c:dPt>
          <c:dPt>
            <c:idx val="2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2E-481A-9163-668754E95941}"/>
              </c:ext>
            </c:extLst>
          </c:dPt>
          <c:dPt>
            <c:idx val="3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2E-481A-9163-668754E95941}"/>
              </c:ext>
            </c:extLst>
          </c:dPt>
          <c:dPt>
            <c:idx val="4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2E-481A-9163-668754E95941}"/>
              </c:ext>
            </c:extLst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B2E-481A-9163-668754E959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max_power</c:v>
                </c:pt>
                <c:pt idx="1">
                  <c:v>engine</c:v>
                </c:pt>
                <c:pt idx="2">
                  <c:v>vehicle_age</c:v>
                </c:pt>
                <c:pt idx="3">
                  <c:v>km_driven</c:v>
                </c:pt>
                <c:pt idx="4">
                  <c:v>mileage</c:v>
                </c:pt>
                <c:pt idx="5">
                  <c:v>seats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0.74</c:v>
                </c:pt>
                <c:pt idx="2">
                  <c:v>-0.61</c:v>
                </c:pt>
                <c:pt idx="3">
                  <c:v>-0.38</c:v>
                </c:pt>
                <c:pt idx="4">
                  <c:v>-0.22</c:v>
                </c:pt>
                <c:pt idx="5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B2E-481A-9163-668754E959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45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EDA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437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Used Car Dataset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82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CarDekho Dataset using Python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449240"/>
            <a:ext cx="9144000" cy="708660"/>
          </a:xfrm>
          <a:prstGeom prst="rect">
            <a:avLst/>
          </a:prstGeom>
          <a:solidFill>
            <a:srgbClr val="122D5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540" y="4596786"/>
            <a:ext cx="653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8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Prathamesh </a:t>
            </a:r>
            <a:r>
              <a:rPr lang="en-US" sz="2800" b="1" dirty="0" err="1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Dilip</a:t>
            </a:r>
            <a:r>
              <a:rPr lang="en-US" sz="28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Talele</a:t>
            </a:r>
            <a:r>
              <a:rPr lang="en-US" sz="28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B.Tech — CSE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Google Shape;98;p1">
            <a:extLst>
              <a:ext uri="{FF2B5EF4-FFF2-40B4-BE49-F238E27FC236}">
                <a16:creationId xmlns:a16="http://schemas.microsoft.com/office/drawing/2014/main" id="{615C3AE0-0A5A-49FE-B730-359562E0E1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4824000" y="253872"/>
            <a:ext cx="4100760" cy="100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657600" cy="5088636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02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Market: </a:t>
            </a: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$100B+ industry with complex pricing dynamics.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28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931920" y="91440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41648" y="1115568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041648" y="1115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Uncertainty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sellers lack transparency on fair market 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33172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41648" y="2532888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2532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Patterns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understand how age/km affects 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74904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41648" y="3950208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041648" y="3950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Influencers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type, transmission &amp; ownership history are overlooked</a:t>
            </a:r>
            <a:endParaRPr lang="en-US" sz="1100" dirty="0"/>
          </a:p>
        </p:txBody>
      </p:sp>
      <p:pic>
        <p:nvPicPr>
          <p:cNvPr id="27" name="Google Shape;98;p1">
            <a:extLst>
              <a:ext uri="{FF2B5EF4-FFF2-40B4-BE49-F238E27FC236}">
                <a16:creationId xmlns:a16="http://schemas.microsoft.com/office/drawing/2014/main" id="{01649D51-E24D-41AF-BBFD-EA2EFE4B6C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795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1795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55848" y="1527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4300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1795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81928" y="1527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031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10312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1031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55848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10312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1031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81928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06324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6324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0998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9768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06324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06324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3355848" y="30998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55848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06324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06324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281928" y="30998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281928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02336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02336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29768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46120" y="402336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46120" y="402336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3355848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355848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4023360"/>
            <a:ext cx="265176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72200" y="402336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1" name="Text 49"/>
          <p:cNvSpPr/>
          <p:nvPr/>
        </p:nvSpPr>
        <p:spPr>
          <a:xfrm>
            <a:off x="6281928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81928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100" dirty="0"/>
          </a:p>
        </p:txBody>
      </p:sp>
      <p:pic>
        <p:nvPicPr>
          <p:cNvPr id="54" name="Google Shape;98;p1">
            <a:extLst>
              <a:ext uri="{FF2B5EF4-FFF2-40B4-BE49-F238E27FC236}">
                <a16:creationId xmlns:a16="http://schemas.microsoft.com/office/drawing/2014/main" id="{7B73F487-6D57-4ACA-BA6D-663C9F0DAB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Discover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7400"/>
            <a:ext cx="3977640" cy="160020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14310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272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Thoroughly explore the CarDekho dataset structure, types, and distributions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3977640" cy="160020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39776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37760" y="143483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Trends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8272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pricing patterns across vehicle age, fuel, transmission &amp; ownership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77640" cy="160020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39776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1089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4701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top factors that drive used car resale value up or down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3977640" cy="160020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71800"/>
            <a:ext cx="39776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31089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960620" y="3218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4691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business-ready findings useful for buyers, sellers &amp; dealers</a:t>
            </a:r>
            <a:endParaRPr lang="en-US" sz="1000" dirty="0"/>
          </a:p>
        </p:txBody>
      </p:sp>
      <p:pic>
        <p:nvPicPr>
          <p:cNvPr id="29" name="Google Shape;98;p1">
            <a:extLst>
              <a:ext uri="{FF2B5EF4-FFF2-40B4-BE49-F238E27FC236}">
                <a16:creationId xmlns:a16="http://schemas.microsoft.com/office/drawing/2014/main" id="{D7A1EA77-3FAB-4AA1-827A-AA0683DCC9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 Used Cars — Kaggle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1920240" cy="96012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~14,000+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1920240" cy="96012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24128"/>
            <a:ext cx="1920240" cy="96012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₹Lakh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24128"/>
            <a:ext cx="1920240" cy="96012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76272"/>
          <a:ext cx="667512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selling_price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Target — resale price in ₹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vehicle_age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Age of car in years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fuel_type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Petrol / Diesel / CNG / Electric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transmission_type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Manual / Automatic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km_driven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Total kilometers driven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engine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Engine capacity in CC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max_power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Max power in BHP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seats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Number of seats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seller_type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</a:rPr>
                        <a:t>Dealer / Individual / Trustmark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223760" y="1024128"/>
            <a:ext cx="1645920" cy="3895344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23760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269480" y="1664208"/>
            <a:ext cx="155448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9480" y="1700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269480" y="20482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69480" y="2532888"/>
            <a:ext cx="155448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9480" y="25694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69480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69480" y="3401568"/>
            <a:ext cx="155448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34381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69480" y="37856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269480" y="4270248"/>
            <a:ext cx="1554480" cy="74980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69480" y="43068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₹5-20L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69480" y="46542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900" dirty="0"/>
          </a:p>
        </p:txBody>
      </p:sp>
      <p:pic>
        <p:nvPicPr>
          <p:cNvPr id="33" name="Google Shape;98;p1">
            <a:extLst>
              <a:ext uri="{FF2B5EF4-FFF2-40B4-BE49-F238E27FC236}">
                <a16:creationId xmlns:a16="http://schemas.microsoft.com/office/drawing/2014/main" id="{27CFA4AF-4E03-4245-8301-71F07B7A77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Data Cleaning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46888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1772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76656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₹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1E76C2-46BF-45ED-A3BA-293E91DA3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" y="1345932"/>
            <a:ext cx="3375648" cy="36519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9CFBF0-38A7-4F2C-AAFF-E398983B2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562" y="1345932"/>
            <a:ext cx="2333951" cy="3162741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D88CEF1E-4813-4F9C-8E2E-7AF261C92070}"/>
              </a:ext>
            </a:extLst>
          </p:cNvPr>
          <p:cNvSpPr/>
          <p:nvPr/>
        </p:nvSpPr>
        <p:spPr>
          <a:xfrm>
            <a:off x="253152" y="100377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r>
              <a:rPr lang="en-US" sz="2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Cleaning</a:t>
            </a:r>
            <a:endParaRPr lang="en-US" sz="20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1A80C63D-1040-447A-8475-950A3885C262}"/>
              </a:ext>
            </a:extLst>
          </p:cNvPr>
          <p:cNvSpPr/>
          <p:nvPr/>
        </p:nvSpPr>
        <p:spPr>
          <a:xfrm>
            <a:off x="4617720" y="1003770"/>
            <a:ext cx="471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</a:t>
            </a:r>
            <a:r>
              <a:rPr lang="en-US" sz="16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 present before cleaning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Feature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9200" y="1051560"/>
            <a:ext cx="3635640" cy="109728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161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Drop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auto-index &amp; car_name columns to streamline the 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1088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1051560"/>
            <a:ext cx="3520440" cy="109728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161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Conversion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 → price_lakh for easier human-readable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088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Categorize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2377440"/>
            <a:ext cx="3520440" cy="109728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Binning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 grouped into 5 equal bins for bivariate comparison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414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99200" y="2377440"/>
            <a:ext cx="3635640" cy="109728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3813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398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1120" y="28117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numeric columns are float/int, categoricals are strings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86820" y="2487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9200" y="3739896"/>
            <a:ext cx="3635640" cy="1097280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1120" y="3813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1120" y="42473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groupby on fuel_type, transmission, vehicle_age vs price_lakh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0800" y="3810780"/>
            <a:ext cx="26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Google Shape;98;p1">
            <a:extLst>
              <a:ext uri="{FF2B5EF4-FFF2-40B4-BE49-F238E27FC236}">
                <a16:creationId xmlns:a16="http://schemas.microsoft.com/office/drawing/2014/main" id="{B842FB94-46A8-4BBB-ACC2-2D9FBB387B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— Ready for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After Cleaning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→ Median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Mode / Unknown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46888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17720" y="4544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Capped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E97865-E371-4AB0-89B3-53F30EDC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14" y="1399032"/>
            <a:ext cx="2124371" cy="2953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9E1751-BC6D-4BE5-A824-12D0C570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23" y="1399032"/>
            <a:ext cx="3343277" cy="3429211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2DDFF4B1-F7E5-452B-830C-A5C9236BD59A}"/>
              </a:ext>
            </a:extLst>
          </p:cNvPr>
          <p:cNvSpPr/>
          <p:nvPr/>
        </p:nvSpPr>
        <p:spPr>
          <a:xfrm>
            <a:off x="4617720" y="1003770"/>
            <a:ext cx="471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</a:t>
            </a:r>
            <a:r>
              <a:rPr lang="en-US" sz="16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 present after cleaning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Individual Variable Distributions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4114800" cy="208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849691125"/>
              </p:ext>
            </p:extLst>
          </p:nvPr>
        </p:nvGraphicFramePr>
        <p:xfrm>
          <a:off x="4663440" y="987552"/>
          <a:ext cx="4114800" cy="208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273552"/>
            <a:ext cx="2011680" cy="1600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114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8912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Prices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38912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cars priced ₹5–20L. Luxury cars &gt;₹50L are rare outliers in the dataset.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42032" y="3273552"/>
            <a:ext cx="2011680" cy="1600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87752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⛽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615184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&amp; Petrol Lead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15184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+ Petrol make up ~93% of listings. Electric cars are a very small segment.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18304" y="3273552"/>
            <a:ext cx="2011680" cy="1600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64024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791456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Split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91456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cars significantly outnumber automatic — ~72% vs ~28% of listings.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94576" y="3273552"/>
            <a:ext cx="2011680" cy="1600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940296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967728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Pattern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967728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owner cars dominate dataset (~68%), indicating better resale confidence.</a:t>
            </a:r>
            <a:endParaRPr lang="en-US" sz="900" dirty="0"/>
          </a:p>
        </p:txBody>
      </p:sp>
      <p:pic>
        <p:nvPicPr>
          <p:cNvPr id="50" name="PriceH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38" y="900000"/>
            <a:ext cx="4205952" cy="2250000"/>
          </a:xfrm>
          <a:prstGeom prst="rect">
            <a:avLst/>
          </a:prstGeom>
        </p:spPr>
      </p:pic>
      <p:pic>
        <p:nvPicPr>
          <p:cNvPr id="51" name="FuelB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900000"/>
            <a:ext cx="4205520" cy="2250000"/>
          </a:xfrm>
          <a:prstGeom prst="rect">
            <a:avLst/>
          </a:prstGeom>
        </p:spPr>
      </p:pic>
      <p:pic>
        <p:nvPicPr>
          <p:cNvPr id="26" name="Google Shape;98;p1">
            <a:extLst>
              <a:ext uri="{FF2B5EF4-FFF2-40B4-BE49-F238E27FC236}">
                <a16:creationId xmlns:a16="http://schemas.microsoft.com/office/drawing/2014/main" id="{08A1232E-A6AF-4A17-8F57-D0B9CFB22F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600" t="9326" r="23697" b="62415"/>
          <a:stretch/>
        </p:blipFill>
        <p:spPr>
          <a:xfrm>
            <a:off x="6446520" y="835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Relate to Selling Price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87552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273552"/>
            <a:ext cx="2011680" cy="157276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36576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3749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drops ~55% from year 1 to year 10. Vehicle age has the strongest negative impact.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542032" y="3273552"/>
            <a:ext cx="2011680" cy="157276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2542032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633472" y="3749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18304" y="3273552"/>
            <a:ext cx="2011680" cy="157276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18304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09744" y="3749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cars average 40-50% more than manual cars across all fuel types. 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894576" y="3273552"/>
            <a:ext cx="2011680" cy="1572768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894576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986016" y="3749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engines (1800cc+) average ₹22L vs ₹8L for small engines — 3x difference.</a:t>
            </a:r>
            <a:endParaRPr lang="en-US" sz="950" dirty="0"/>
          </a:p>
        </p:txBody>
      </p:sp>
      <p:pic>
        <p:nvPicPr>
          <p:cNvPr id="50" name="AgePrice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38" y="900000"/>
            <a:ext cx="4205952" cy="2250000"/>
          </a:xfrm>
          <a:prstGeom prst="rect">
            <a:avLst/>
          </a:prstGeom>
        </p:spPr>
      </p:pic>
      <p:pic>
        <p:nvPicPr>
          <p:cNvPr id="51" name="FuelPrice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900000"/>
            <a:ext cx="4205520" cy="2250000"/>
          </a:xfrm>
          <a:prstGeom prst="rect">
            <a:avLst/>
          </a:prstGeom>
        </p:spPr>
      </p:pic>
      <p:pic>
        <p:nvPicPr>
          <p:cNvPr id="22" name="Google Shape;98;p1">
            <a:extLst>
              <a:ext uri="{FF2B5EF4-FFF2-40B4-BE49-F238E27FC236}">
                <a16:creationId xmlns:a16="http://schemas.microsoft.com/office/drawing/2014/main" id="{F0CDDD42-F295-4CDD-B02F-635E41A3E24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600" t="9326" r="23697" b="62415"/>
          <a:stretch/>
        </p:blipFill>
        <p:spPr>
          <a:xfrm>
            <a:off x="6446520" y="83520"/>
            <a:ext cx="2660760" cy="62006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4AF34190-0BCC-4C41-A99D-0E4E20FA89B4}"/>
              </a:ext>
            </a:extLst>
          </p:cNvPr>
          <p:cNvSpPr/>
          <p:nvPr/>
        </p:nvSpPr>
        <p:spPr>
          <a:xfrm>
            <a:off x="2633472" y="37405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drops ~55% from year 1 to year 10. Vehicle age has the strongest negative impact.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ultivariate Analysi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100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</a:rPr>
              <a:t>Multivariate Analysis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55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5CE7"/>
                </a:solidFill>
                <a:latin typeface="Calibri" pitchFamily="34" charset="0"/>
              </a:rPr>
              <a:t>Relationships Between Multiple Features &amp; Selling Price</a:t>
            </a:r>
          </a:p>
        </p:txBody>
      </p:sp>
      <p:pic>
        <p:nvPicPr>
          <p:cNvPr id="10" name="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8" y="880000"/>
            <a:ext cx="4205760" cy="2800000"/>
          </a:xfrm>
          <a:prstGeom prst="rect">
            <a:avLst/>
          </a:prstGeom>
        </p:spPr>
      </p:pic>
      <p:pic>
        <p:nvPicPr>
          <p:cNvPr id="11" name="FuelTrans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80000"/>
            <a:ext cx="4205520" cy="2800000"/>
          </a:xfrm>
          <a:prstGeom prst="rect">
            <a:avLst/>
          </a:prstGeom>
        </p:spPr>
      </p:pic>
      <p:sp>
        <p:nvSpPr>
          <p:cNvPr id="20" name="HeatmapLabel"/>
          <p:cNvSpPr/>
          <p:nvPr/>
        </p:nvSpPr>
        <p:spPr>
          <a:xfrm>
            <a:off x="274638" y="3730000"/>
            <a:ext cx="4205760" cy="310000"/>
          </a:xfrm>
          <a:prstGeom prst="rect">
            <a:avLst/>
          </a:prstGeom>
          <a:solidFill>
            <a:srgbClr val="F0EEFF"/>
          </a:solidFill>
          <a:ln>
            <a:solidFill>
              <a:srgbClr val="6C5CE7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</a:rPr>
              <a:t>Correlation Heatmap — max_power &amp; engine strongest price predictors</a:t>
            </a:r>
          </a:p>
        </p:txBody>
      </p:sp>
      <p:sp>
        <p:nvSpPr>
          <p:cNvPr id="21" name="FuelTransLabel"/>
          <p:cNvSpPr/>
          <p:nvPr/>
        </p:nvSpPr>
        <p:spPr>
          <a:xfrm>
            <a:off x="4663440" y="3730000"/>
            <a:ext cx="4205520" cy="310000"/>
          </a:xfrm>
          <a:prstGeom prst="rect">
            <a:avLst/>
          </a:prstGeom>
          <a:solidFill>
            <a:srgbClr val="E8FDF8"/>
          </a:solidFill>
          <a:ln>
            <a:solidFill>
              <a:srgbClr val="00B894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</a:rPr>
              <a:t>Price by Fuel &amp; Transmission — Automatic adds ~40-50% premium</a:t>
            </a:r>
          </a:p>
        </p:txBody>
      </p:sp>
      <p:sp>
        <p:nvSpPr>
          <p:cNvPr id="22" name="KeyInsight"/>
          <p:cNvSpPr/>
          <p:nvPr/>
        </p:nvSpPr>
        <p:spPr>
          <a:xfrm>
            <a:off x="274638" y="4090000"/>
            <a:ext cx="8594322" cy="700000"/>
          </a:xfrm>
          <a:prstGeom prst="rect">
            <a:avLst/>
          </a:prstGeom>
          <a:solidFill>
            <a:srgbClr val="F8F9FA"/>
          </a:solidFill>
          <a:ln>
            <a:solidFill>
              <a:srgbClr val="CCCCCC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</a:rPr>
              <a:t>Key Takeaway: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</a:rPr>
              <a:t>Engine power (max_power r=0.82) is the strongest price driver. Vehicle age &amp; mileage negatively impact value. Electric &amp; Automatic cars command a consistent premium across all fuel segments.</a:t>
            </a:r>
          </a:p>
        </p:txBody>
      </p:sp>
      <p:pic>
        <p:nvPicPr>
          <p:cNvPr id="13" name="Google Shape;98;p1">
            <a:extLst>
              <a:ext uri="{FF2B5EF4-FFF2-40B4-BE49-F238E27FC236}">
                <a16:creationId xmlns:a16="http://schemas.microsoft.com/office/drawing/2014/main" id="{47DB0845-A2D6-4E08-B1B9-F6A6465244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 with Selling Price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2412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24128"/>
            <a:ext cx="2971800" cy="347472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572768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727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+0.82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1591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max_power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power is the STRONGEST driver of used car price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0" y="2139696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06D6A0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1396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+0.74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157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engines command significantly higher resale value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43600" y="2706624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EF476F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7066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-0.61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75120" y="27249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vehicle_age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cars depreciate sharply — age kills resale value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43600" y="3273552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EF476F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2735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-0.38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7512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mileage = lower price. Buyers prefer lower km cars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43600" y="3840480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EF476F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38404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-0.22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7512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67512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fuel efficiency (km/L) slightly reduces price</a:t>
            </a:r>
            <a:endParaRPr lang="en-US" sz="850" dirty="0"/>
          </a:p>
        </p:txBody>
      </p:sp>
      <p:pic>
        <p:nvPicPr>
          <p:cNvPr id="29" name="Google Shape;98;p1">
            <a:extLst>
              <a:ext uri="{FF2B5EF4-FFF2-40B4-BE49-F238E27FC236}">
                <a16:creationId xmlns:a16="http://schemas.microsoft.com/office/drawing/2014/main" id="{E2E2F0A3-AAD6-41A0-94DC-108E15A0BE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161288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612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= Higher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under 3 years old retain 70%+ of their original value. After 7 years, prices drop sharply below ₹10L.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24128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1161288"/>
            <a:ext cx="731520" cy="7315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1612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27832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Leads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27832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cars command the highest avg resale price (₹28.5L), 2x above diesel and 2.4x above petrol.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0241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024128"/>
            <a:ext cx="26517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161288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1612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62472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Premium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62472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transmission adds a consistent 40-50% price premium over manual gearbox cars.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815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81528"/>
            <a:ext cx="2651760" cy="54864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0160" y="3218688"/>
            <a:ext cx="731520" cy="73152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3218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3192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Power Matters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max_power has the highest correlation (r=0.82) with price. High-BHP cars are always more valuable.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0815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081528"/>
            <a:ext cx="265176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0" y="3218688"/>
            <a:ext cx="731520" cy="73152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218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27832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Still Dominates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27832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holds the top share (~48%) and mid-range dominance (₹10–20L segment).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308152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3081528"/>
            <a:ext cx="2651760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9440" y="3218688"/>
            <a:ext cx="731520" cy="7315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3218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062472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Driven Hurts Value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62472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driven 50,000–100,000+ km lose significant value. Low-km cars are preferred in resale.</a:t>
            </a:r>
            <a:endParaRPr lang="en-US" sz="900" dirty="0"/>
          </a:p>
        </p:txBody>
      </p:sp>
      <p:pic>
        <p:nvPicPr>
          <p:cNvPr id="42" name="Google Shape;98;p1">
            <a:extLst>
              <a:ext uri="{FF2B5EF4-FFF2-40B4-BE49-F238E27FC236}">
                <a16:creationId xmlns:a16="http://schemas.microsoft.com/office/drawing/2014/main" id="{42861AE2-06D9-4CA1-BF55-66FC132EC0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-1479600" y="-1371600"/>
            <a:ext cx="5486400" cy="5486400"/>
          </a:xfrm>
          <a:prstGeom prst="ellipse">
            <a:avLst/>
          </a:prstGeom>
          <a:solidFill>
            <a:srgbClr val="122D5B"/>
          </a:solidFill>
          <a:ln w="12700">
            <a:solidFill>
              <a:srgbClr val="122D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Conclusion</a:t>
            </a:r>
            <a:endParaRPr lang="en-US" sz="300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What the Data Told 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234440"/>
            <a:ext cx="6949440" cy="804672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13075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Successfully Completed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673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CarDekho dataset was thoroughly explored — 8000+ records, 13 features, cleaned and analyzed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194560"/>
            <a:ext cx="6949440" cy="804672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8448" y="2267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Pricing Factors Identified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633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max_power, engine, vehicle_age, and km_driven are the 4 key determinants of used car resale price.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154680"/>
            <a:ext cx="6949440" cy="804672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98448" y="32278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Business Value Generated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5935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reveal actionable pricing patterns useful for buyers, sellers, and automotive dealers.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4114800"/>
            <a:ext cx="6949440" cy="804672"/>
          </a:xfrm>
          <a:prstGeom prst="rect">
            <a:avLst/>
          </a:prstGeom>
          <a:solidFill>
            <a:srgbClr val="122D5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98448" y="41879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Statistical Rigor Applied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4553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handling, correlation analysis, and feature engineering ensure reliable findings.</a:t>
            </a:r>
            <a:endParaRPr lang="en-US" sz="1000" dirty="0"/>
          </a:p>
        </p:txBody>
      </p:sp>
      <p:pic>
        <p:nvPicPr>
          <p:cNvPr id="19" name="Google Shape;98;p1">
            <a:extLst>
              <a:ext uri="{FF2B5EF4-FFF2-40B4-BE49-F238E27FC236}">
                <a16:creationId xmlns:a16="http://schemas.microsoft.com/office/drawing/2014/main" id="{3D95EFBF-996E-4EF2-B746-7A4606BB9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Problem-Solving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069080" cy="384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Handling Outliers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 had extreme luxury car values. Decision: retain as genuine — removing would bias results.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1671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Retained in target; IQR only applied to km_driven.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24128"/>
            <a:ext cx="4069080" cy="384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Missing Data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49961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17190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had null values. Different columns needed different imputation strategies.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21671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Median for numeric, mode for categorical, 'Unknown' for text.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54096"/>
            <a:ext cx="4069080" cy="384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054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Visualization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5295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749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interpretable and clean charts from highly skewed price data.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41970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Price filtered to ≤300L; log scale tested; bins tuned to 30.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54096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54096"/>
            <a:ext cx="4069080" cy="384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054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Correlation Interpretation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18888" y="35295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749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multicollinearity between engine, max_power, and price.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41970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Computed individual Pearson correlations with the target variable.</a:t>
            </a:r>
            <a:endParaRPr lang="en-US" sz="1000" dirty="0"/>
          </a:p>
        </p:txBody>
      </p:sp>
      <p:pic>
        <p:nvPicPr>
          <p:cNvPr id="30" name="Google Shape;98;p1">
            <a:extLst>
              <a:ext uri="{FF2B5EF4-FFF2-40B4-BE49-F238E27FC236}">
                <a16:creationId xmlns:a16="http://schemas.microsoft.com/office/drawing/2014/main" id="{2C3765D2-B225-4057-A6C9-064A3B5D4B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6446520" y="97920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122D5B"/>
          </a:solidFill>
          <a:ln w="12700">
            <a:solidFill>
              <a:srgbClr val="122D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657600" cy="365760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971800" y="200988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717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200" y="25857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"Turning data into decisions — one insight at a time."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122D5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0" name="Google Shape;98;p1">
            <a:extLst>
              <a:ext uri="{FF2B5EF4-FFF2-40B4-BE49-F238E27FC236}">
                <a16:creationId xmlns:a16="http://schemas.microsoft.com/office/drawing/2014/main" id="{F3AFE230-73A9-4D59-B396-164CEA1E73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600" t="9326" r="23697" b="62415"/>
          <a:stretch/>
        </p:blipFill>
        <p:spPr>
          <a:xfrm>
            <a:off x="3013020" y="70488"/>
            <a:ext cx="2660760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1208</Words>
  <Application>Microsoft Office PowerPoint</Application>
  <PresentationFormat>On-screen Show (16:9)</PresentationFormat>
  <Paragraphs>274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Used Car Dataset — CarDekho</dc:title>
  <dc:subject>PptxGenJS Presentation</dc:subject>
  <dc:creator>Data Analytics Student</dc:creator>
  <cp:lastModifiedBy>Prathamesh Talele</cp:lastModifiedBy>
  <cp:revision>23</cp:revision>
  <dcterms:created xsi:type="dcterms:W3CDTF">2026-05-08T05:48:22Z</dcterms:created>
  <dcterms:modified xsi:type="dcterms:W3CDTF">2026-05-23T13:24:26Z</dcterms:modified>
</cp:coreProperties>
</file>